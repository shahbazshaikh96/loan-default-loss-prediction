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>
                <a:latin typeface="Aptos"/>
              </a:defRPr>
            </a:pPr>
            <a:r>
              <a:t>Classification Model Comparison by AUC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Classification Model Comparison by AUC</c:v>
                </c:pt>
              </c:strCache>
            </c:strRef>
          </c:tx>
          <c:spPr>
            <a:solidFill>
              <a:srgbClr val="919191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XGBoost</c:v>
                </c:pt>
                <c:pt idx="1">
                  <c:v>Elastic Net</c:v>
                </c:pt>
                <c:pt idx="2">
                  <c:v>Logistic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0.712861</c:v>
                </c:pt>
                <c:pt idx="1">
                  <c:v>0.705165</c:v>
                </c:pt>
                <c:pt idx="2">
                  <c:v>0.702779</c:v>
                </c:pt>
                <c:pt idx="3">
                  <c:v>0.621714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>
                <a:latin typeface="Aptos"/>
              </a:defRPr>
            </a:pPr>
            <a:r>
              <a:t>Regression Model Comparison by MAE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Regression Model Comparison by MAE</c:v>
                </c:pt>
              </c:strCache>
            </c:strRef>
          </c:tx>
          <c:spPr>
            <a:solidFill>
              <a:srgbClr val="919191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XGBoost</c:v>
                </c:pt>
                <c:pt idx="1">
                  <c:v>Ridge</c:v>
                </c:pt>
                <c:pt idx="2">
                  <c:v>PLS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5.033003</c:v>
                </c:pt>
                <c:pt idx="1">
                  <c:v>5.934699</c:v>
                </c:pt>
                <c:pt idx="2">
                  <c:v>6.432512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oup4_key_cover_p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Project Goal &amp;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727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Project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Build a machine learning framework to predict loan loss.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Forecast both the probability of default and the expected loss amount.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Provide a submission file with predicted loss for each test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727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Financial 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9659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Move beyond simple yes/no bad-credit classification.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Enable more advanced, quantitative decisions for underwriting and portfolio management.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Calculate risk using both default probability and loss severity.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2222"/>
                </a:solidFill>
                <a:latin typeface="Aptos"/>
              </a:defRPr>
            </a:pPr>
            <a:r>
              <a:t>The dataset is derived from historical loan applications. The goal is to predict the loss value for the test set, which is not provided.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2011680"/>
          <a:ext cx="102412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4754880"/>
              </a:tblGrid>
              <a:tr h="45148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00000"/>
                          </a:solidFill>
                          <a:latin typeface="Georgia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Georgia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BEBEBE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Training Rows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80,000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Test Rows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25,471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Usable Predictor Features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760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Raw Train Columns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Raw Test Columns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762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Default Rate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9.22%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Zero Loss Rate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90.78%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The Core Challenge: Zero-Inflation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A Highly Imbalanced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1206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90.78% of loans have zero loss.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Only 9.22% of loans default and incur a positive loss.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A single regression model would be heavily biased toward predicting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87952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222222"/>
                </a:solidFill>
                <a:latin typeface="Aptos"/>
              </a:defRPr>
            </a:pPr>
            <a:r>
              <a:t>This structure motivates splitting the task into a classification problem and a regression problem.</a:t>
            </a:r>
          </a:p>
        </p:txBody>
      </p:sp>
      <p:pic>
        <p:nvPicPr>
          <p:cNvPr id="7" name="Picture 6" descr="lo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38862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2222"/>
                </a:solidFill>
                <a:latin typeface="Aptos"/>
              </a:defRPr>
            </a:pPr>
            <a:r>
              <a:t>A multi-step pipeline was used to prepare the data for modeling, prevent data leakage, and ensure compatibility with all algorithms.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241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Removed V1 / index-style column because it is not loan information.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Stored id separately for the final submission file.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Created a binary default variable for classification: default = 1 if loss &gt; 0.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Encoded categorical features into numeric representations.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Imputed missing values using the median to handle outliers.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Scaled features using centering and standardization.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Cleaned data to handle NA/NaN/Inf values for XGBoost.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Solution: A Two-Stage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22222"/>
                </a:solidFill>
                <a:latin typeface="Aptos"/>
              </a:defRPr>
            </a:pPr>
            <a:r>
              <a:t>To address zero-inflation, the problem was split into two modeling stages, which aligns with standard credit risk assessment practices.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005840" y="2331720"/>
            <a:ext cx="3840480" cy="530352"/>
          </a:xfrm>
          <a:prstGeom prst="rightArrow">
            <a:avLst/>
          </a:prstGeom>
          <a:solidFill>
            <a:srgbClr val="D3D3D3"/>
          </a:solidFill>
          <a:ln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537960" y="2331720"/>
            <a:ext cx="3840480" cy="530352"/>
          </a:xfrm>
          <a:prstGeom prst="rightArrow">
            <a:avLst/>
          </a:prstGeom>
          <a:solidFill>
            <a:srgbClr val="D3D3D3"/>
          </a:solidFill>
          <a:ln>
            <a:solidFill>
              <a:srgbClr val="D3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1012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Stage 1: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30752"/>
            <a:ext cx="4343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222222"/>
                </a:solidFill>
                <a:latin typeface="Aptos"/>
              </a:defRPr>
            </a:pPr>
            <a:r>
              <a:t>Predict the Probability of Default (P(Default)). This model answers: will this loan default?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31012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Stage 2: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730752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0">
                <a:solidFill>
                  <a:srgbClr val="222222"/>
                </a:solidFill>
                <a:latin typeface="Aptos"/>
              </a:defRPr>
            </a:pPr>
            <a:r>
              <a:t>For loans predicted to default, predict the Loss Severity. This model answers: if it defaults, how much will be lost?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0749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Final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50468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2222"/>
                </a:solidFill>
                <a:latin typeface="Georgia"/>
              </a:defRPr>
            </a:pPr>
            <a:r>
              <a:t>Expected Loss = P(Default) x Predicted Loss Severity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Stage 1: Classification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Performance (AUC)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64208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222222"/>
                </a:solidFill>
                <a:latin typeface="Aptos"/>
              </a:defRPr>
            </a:pPr>
            <a:r>
              <a:t>Models were compared using Area Under the Curve (AUC) to measure their ability to discriminate between defaulting and non-defaulting loans.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606040"/>
          <a:ext cx="47548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Georgia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Georgia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BEBEB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0.712861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0.702779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0.621714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Elastic Net Logistic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0.705165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0749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Why XGBoost?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Achieved the highest AUC score.</a:t>
            </a:r>
          </a:p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Effectively captures non-linear relationships and feature interactions.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0" y="1417320"/>
          <a:ext cx="4343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Stage 1: XGBoost ROC Curve</a:t>
            </a:r>
          </a:p>
        </p:txBody>
      </p:sp>
      <p:pic>
        <p:nvPicPr>
          <p:cNvPr id="4" name="Picture 3" descr="roc_curve_st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53312"/>
            <a:ext cx="5257800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4173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Interpreting the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847088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The ROC curve illustrates the trade-off between true positives and false positives across classification thresholds.</a:t>
            </a:r>
          </a:p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An AUC of 0.712861 indicates a fair to good discriminative ability.</a:t>
            </a:r>
          </a:p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The model performs significantly better than random chance.</a:t>
            </a:r>
          </a:p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This confirms XGBoost's capacity to rank defaulted loans higher than non-defaulted 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Stage 2: Regression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Performance (MAE)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64208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222222"/>
                </a:solidFill>
                <a:latin typeface="Aptos"/>
              </a:defRPr>
            </a:pPr>
            <a:r>
              <a:t>For defaulted loans, models were evaluated by Mean Absolute Error (MAE). A lower MAE indicates better prediction accuracy.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2578608"/>
          <a:ext cx="47548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645920"/>
              </a:tblGrid>
              <a:tr h="42291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Georgia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Georgia"/>
                        </a:defRPr>
                      </a:pPr>
                      <a:r>
                        <a:t>MAE</a:t>
                      </a:r>
                    </a:p>
                  </a:txBody>
                  <a:tcPr anchor="ctr">
                    <a:solidFill>
                      <a:srgbClr val="BEBEB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XGBoost Regression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5.033003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Ridge Regression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5.934699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PLS Regression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6.432512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7091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Why XGBoost?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Achieved the lowest MAE, minimizing prediction error.</a:t>
            </a:r>
          </a:p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Better captures the complex structure of loss severity.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92240" y="1417320"/>
          <a:ext cx="44348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Stage 2: Actual vs. Predicted Loss</a:t>
            </a:r>
          </a:p>
        </p:txBody>
      </p:sp>
      <p:pic>
        <p:nvPicPr>
          <p:cNvPr id="4" name="Picture 3" descr="actual_vs_predicted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525780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4173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Model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222222"/>
                </a:solidFill>
                <a:latin typeface="Aptos"/>
              </a:defRPr>
            </a:pPr>
            <a:r>
              <a:t>This scatter plot compares the model's predicted loss against the actual loss for the validation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5603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The model captures the overall shape of the loss severity.</a:t>
            </a:r>
          </a:p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An ideal model would place all points on a 45-degree diagonal.</a:t>
            </a:r>
          </a:p>
          <a:p>
            <a:pPr>
              <a:spcAft>
                <a:spcPts val="600"/>
              </a:spcAft>
              <a:defRPr sz="1080">
                <a:solidFill>
                  <a:srgbClr val="222222"/>
                </a:solidFill>
                <a:latin typeface="Aptos"/>
              </a:defRPr>
            </a:pPr>
            <a:r>
              <a:t>Prediction error is larger for high-loss events, which are rare and difficult to predict.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Final Prediction: Expected Loss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Combining the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5074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222222"/>
                </a:solidFill>
                <a:latin typeface="Aptos"/>
              </a:defRPr>
            </a:pPr>
            <a:r>
              <a:t>The final expected loss for the test set is calculated by multiplying the estimate of default risk with the predicted loss value for each loan.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07792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 b="0">
                <a:solidFill>
                  <a:srgbClr val="222222"/>
                </a:solidFill>
                <a:latin typeface="Aptos"/>
              </a:defRPr>
            </a:pPr>
            <a:r>
              <a:t>The resulting predictions form a right-skewed distribution, consistent with the nature of financial loss data.</a:t>
            </a:r>
          </a:p>
        </p:txBody>
      </p:sp>
      <p:pic>
        <p:nvPicPr>
          <p:cNvPr id="7" name="Picture 6" descr="predicted_lo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4434840" cy="315468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4343400"/>
          <a:ext cx="484632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00000"/>
                          </a:solidFill>
                          <a:latin typeface="Georgia"/>
                        </a:defRPr>
                      </a:pPr>
                      <a:r>
                        <a:t>Submission Format</a:t>
                      </a:r>
                    </a:p>
                  </a:txBody>
                  <a:tcPr anchor="ctr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00000"/>
                          </a:solidFill>
                          <a:latin typeface="Georgia"/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BEBEB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id, loss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00000"/>
                          </a:solidFill>
                          <a:latin typeface="Aptos"/>
                        </a:defRPr>
                      </a:pPr>
                      <a:r>
                        <a:t>Predicted expected loss for every test record</a:t>
                      </a:r>
                    </a:p>
                  </a:txBody>
                  <a:tcPr anchor="ctr">
                    <a:solidFill>
                      <a:srgbClr val="DADA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Key Insights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Primary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22222"/>
                </a:solidFill>
                <a:latin typeface="Aptos"/>
              </a:defRPr>
            </a:pPr>
            <a:r>
              <a:t>A two-stage machine learning framework using XGBoost provides a robust and financially interpretable solution for predicting loan loss in a zero-inflated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The two-stage approach successfully manages the zero-inflation problem.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XGBoost was the superior algorithm for both classification (AUC: 0.712861) and regression (MAE: 5.033003).</a:t>
            </a:r>
          </a:p>
          <a:p>
            <a:pPr>
              <a:spcAft>
                <a:spcPts val="600"/>
              </a:spcAft>
              <a:defRPr sz="1150">
                <a:solidFill>
                  <a:srgbClr val="222222"/>
                </a:solidFill>
                <a:latin typeface="Aptos"/>
              </a:defRPr>
            </a:pPr>
            <a:r>
              <a:t>This framework separates the prediction of default probability from the prediction of loss severity, which is a more appropriate and actionable approach for credit risk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4800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22222"/>
                </a:solidFill>
                <a:latin typeface="Aptos"/>
              </a:defRPr>
            </a:pPr>
            <a:r>
              <a:t>Anonymized Features: Prevents domain-specific feature engineering.</a:t>
            </a:r>
          </a:p>
          <a:p>
            <a:pPr>
              <a:spcAft>
                <a:spcPts val="600"/>
              </a:spcAft>
              <a:defRPr sz="1120">
                <a:solidFill>
                  <a:srgbClr val="222222"/>
                </a:solidFill>
                <a:latin typeface="Aptos"/>
              </a:defRPr>
            </a:pPr>
            <a:r>
              <a:t>Imbalanced Data: While it can be managed, it remains an inherent challenge.</a:t>
            </a:r>
          </a:p>
          <a:p>
            <a:pPr>
              <a:spcAft>
                <a:spcPts val="600"/>
              </a:spcAft>
              <a:defRPr sz="1120">
                <a:solidFill>
                  <a:srgbClr val="222222"/>
                </a:solidFill>
                <a:latin typeface="Aptos"/>
              </a:defRPr>
            </a:pPr>
            <a:r>
              <a:t>Hyper-parameter Tuning: This project used a baseline; further tuning could improve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173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0000"/>
                </a:solidFill>
                <a:latin typeface="Georgia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847088"/>
            <a:ext cx="4709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22222"/>
                </a:solidFill>
                <a:latin typeface="Aptos"/>
              </a:defRPr>
            </a:pPr>
            <a:r>
              <a:t>Model Explainability: Use SHAP or LIME to understand key drivers of default and loss.</a:t>
            </a:r>
          </a:p>
          <a:p>
            <a:pPr>
              <a:spcAft>
                <a:spcPts val="600"/>
              </a:spcAft>
              <a:defRPr sz="1120">
                <a:solidFill>
                  <a:srgbClr val="222222"/>
                </a:solidFill>
                <a:latin typeface="Aptos"/>
              </a:defRPr>
            </a:pPr>
            <a:r>
              <a:t>Threshold Optimization: Optimize classification threshold based on a business-specific financial cost matrix.</a:t>
            </a:r>
          </a:p>
          <a:p>
            <a:pPr>
              <a:spcAft>
                <a:spcPts val="600"/>
              </a:spcAft>
              <a:defRPr sz="1120">
                <a:solidFill>
                  <a:srgbClr val="222222"/>
                </a:solidFill>
                <a:latin typeface="Aptos"/>
              </a:defRPr>
            </a:pPr>
            <a:r>
              <a:t>Alternative Models: Compare against other methods like LightGBM, CatBoost, and Tweedie regression.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2222"/>
                </a:solidFill>
                <a:latin typeface="Georgia"/>
              </a:defRPr>
            </a:pPr>
            <a: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920240"/>
            <a:ext cx="2971800" cy="2011680"/>
          </a:xfrm>
          <a:prstGeom prst="roundRect">
            <a:avLst/>
          </a:prstGeom>
          <a:solidFill>
            <a:srgbClr val="E6E6E6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2331720"/>
            <a:ext cx="1005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919191"/>
                </a:solidFill>
                <a:latin typeface="Georgia"/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